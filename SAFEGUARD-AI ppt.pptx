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8" d="100"/>
          <a:sy n="78" d="100"/>
        </p:scale>
        <p:origin x="85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68516032"/>
              </p:ext>
            </p:extLst>
          </p:nvPr>
        </p:nvGraphicFramePr>
        <p:xfrm>
          <a:off x="1332689" y="2600314"/>
          <a:ext cx="9361556" cy="3353013"/>
        </p:xfrm>
        <a:graphic>
          <a:graphicData uri="http://schemas.openxmlformats.org/drawingml/2006/table">
            <a:tbl>
              <a:tblPr>
                <a:noFill/>
                <a:tableStyleId>{0AAD8F4D-43EB-41E5-8A38-28AB6DFB1B60}</a:tableStyleId>
              </a:tblPr>
              <a:tblGrid>
                <a:gridCol w="2057519">
                  <a:extLst>
                    <a:ext uri="{9D8B030D-6E8A-4147-A177-3AD203B41FA5}">
                      <a16:colId xmlns:a16="http://schemas.microsoft.com/office/drawing/2014/main" val="20000"/>
                    </a:ext>
                  </a:extLst>
                </a:gridCol>
                <a:gridCol w="2434679">
                  <a:extLst>
                    <a:ext uri="{9D8B030D-6E8A-4147-A177-3AD203B41FA5}">
                      <a16:colId xmlns:a16="http://schemas.microsoft.com/office/drawing/2014/main" val="20002"/>
                    </a:ext>
                  </a:extLst>
                </a:gridCol>
                <a:gridCol w="2434679">
                  <a:extLst>
                    <a:ext uri="{9D8B030D-6E8A-4147-A177-3AD203B41FA5}">
                      <a16:colId xmlns:a16="http://schemas.microsoft.com/office/drawing/2014/main" val="20003"/>
                    </a:ext>
                  </a:extLst>
                </a:gridCol>
                <a:gridCol w="2434679">
                  <a:extLst>
                    <a:ext uri="{9D8B030D-6E8A-4147-A177-3AD203B41FA5}">
                      <a16:colId xmlns:a16="http://schemas.microsoft.com/office/drawing/2014/main" val="20004"/>
                    </a:ext>
                  </a:extLst>
                </a:gridCol>
              </a:tblGrid>
              <a:tr h="150580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847206">
                <a:tc>
                  <a:txBody>
                    <a:bodyPr/>
                    <a:lstStyle/>
                    <a:p>
                      <a:pPr marL="0" marR="0" lvl="0" indent="0" algn="ctr" rtl="0">
                        <a:spcBef>
                          <a:spcPts val="0"/>
                        </a:spcBef>
                        <a:spcAft>
                          <a:spcPts val="0"/>
                        </a:spcAft>
                        <a:buNone/>
                      </a:pPr>
                      <a:r>
                        <a:rPr lang="en-IN" sz="1800" dirty="0"/>
                        <a:t>SONU RATHA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dirty="0"/>
                        <a:t>sonuratha891@gmail.com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dirty="0"/>
                        <a:t>7849094910</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b="1" dirty="0"/>
              <a:t>Industrial Safety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The AI Mechanical Safety Compliance Advisor</a:t>
            </a:r>
            <a:endParaRPr lang="en-IN" sz="2400" b="1" dirty="0">
              <a:highlight>
                <a:srgbClr val="FFFF00"/>
              </a:highlight>
            </a:endParaRPr>
          </a:p>
        </p:txBody>
      </p:sp>
      <p:pic>
        <p:nvPicPr>
          <p:cNvPr id="5" name="Picture 4">
            <a:extLst>
              <a:ext uri="{FF2B5EF4-FFF2-40B4-BE49-F238E27FC236}">
                <a16:creationId xmlns:a16="http://schemas.microsoft.com/office/drawing/2014/main" id="{0C361C1E-4FDF-A50F-D41A-44FF626495E9}"/>
              </a:ext>
            </a:extLst>
          </p:cNvPr>
          <p:cNvPicPr>
            <a:picLocks noChangeAspect="1"/>
          </p:cNvPicPr>
          <p:nvPr/>
        </p:nvPicPr>
        <p:blipFill>
          <a:blip r:embed="rId3"/>
          <a:stretch>
            <a:fillRect/>
          </a:stretch>
        </p:blipFill>
        <p:spPr>
          <a:xfrm>
            <a:off x="3881336" y="4157779"/>
            <a:ext cx="1540358" cy="179554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713948"/>
            <a:ext cx="11291674" cy="6617196"/>
          </a:xfrm>
          <a:prstGeom prst="rect">
            <a:avLst/>
          </a:prstGeom>
          <a:noFill/>
        </p:spPr>
        <p:txBody>
          <a:bodyPr wrap="square" rtlCol="0">
            <a:spAutoFit/>
          </a:bodyPr>
          <a:lstStyle/>
          <a:p>
            <a:r>
              <a:rPr lang="en-US" sz="1800" b="1" dirty="0"/>
              <a:t>The Challenge</a:t>
            </a:r>
            <a:br>
              <a:rPr lang="en-US" sz="1800" dirty="0"/>
            </a:br>
            <a:r>
              <a:rPr lang="en-US" sz="1800" dirty="0"/>
              <a:t>Industrial machines must comply with strict safety regulations and operational standards. Monitoring compliance across large industrial facilities can be difficult, and violations may lead to safety hazards, accidents, and regulatory penalties. Organizations require intelligent systems that can continuously monitor operations and highlight potential safety risks.</a:t>
            </a:r>
          </a:p>
          <a:p>
            <a:endParaRPr lang="en-IN" sz="1800" dirty="0"/>
          </a:p>
          <a:p>
            <a:r>
              <a:rPr lang="en-US" sz="1800" b="1" dirty="0"/>
              <a:t>The Objective</a:t>
            </a:r>
            <a:br>
              <a:rPr lang="en-US" sz="1800" dirty="0"/>
            </a:br>
            <a:r>
              <a:rPr lang="en-US" sz="1800" dirty="0"/>
              <a:t>Build an AI-powered Mechanical Safety Compliance Advisor that analyzes machine operations and safety regulations to detect compliance risks.</a:t>
            </a:r>
          </a:p>
          <a:p>
            <a:endParaRPr lang="en-IN" sz="1800" dirty="0"/>
          </a:p>
          <a:p>
            <a:pPr lvl="0"/>
            <a:r>
              <a:rPr lang="en-IN" sz="1800" b="1" dirty="0"/>
              <a:t>Safety Data Retrieval (RAG) :–</a:t>
            </a:r>
            <a:r>
              <a:rPr lang="en-IN" sz="1800" dirty="0"/>
              <a:t> Collect machine safety standards and operational logs.</a:t>
            </a:r>
          </a:p>
          <a:p>
            <a:pPr lvl="0"/>
            <a:r>
              <a:rPr lang="en-US" sz="1800" b="1" dirty="0"/>
              <a:t>Risk Detection :–</a:t>
            </a:r>
            <a:r>
              <a:rPr lang="en-US" sz="1800" dirty="0"/>
              <a:t> Identify unsafe operating conditions.</a:t>
            </a:r>
            <a:endParaRPr lang="en-IN" sz="1800" dirty="0"/>
          </a:p>
          <a:p>
            <a:pPr lvl="0"/>
            <a:r>
              <a:rPr lang="en-US" sz="1800" b="1" dirty="0"/>
              <a:t>Compliance Verification :–</a:t>
            </a:r>
            <a:r>
              <a:rPr lang="en-US" sz="1800" dirty="0"/>
              <a:t> Compare operational parameters with safety standards.</a:t>
            </a:r>
            <a:endParaRPr lang="en-IN" sz="1800" dirty="0"/>
          </a:p>
          <a:p>
            <a:pPr lvl="0"/>
            <a:r>
              <a:rPr lang="en-US" sz="1800" b="1" dirty="0"/>
              <a:t>Safety Recommendations :–</a:t>
            </a:r>
            <a:r>
              <a:rPr lang="en-US" sz="1800" dirty="0"/>
              <a:t> Suggest corrective actions to ensure safe operation.</a:t>
            </a:r>
            <a:endParaRPr lang="en-IN" sz="1800" dirty="0"/>
          </a:p>
          <a:p>
            <a:pPr lvl="0"/>
            <a:r>
              <a:rPr lang="en-US" sz="1800" b="1" dirty="0"/>
              <a:t>Multi-Agent System</a:t>
            </a:r>
            <a:endParaRPr lang="en-IN" sz="1800" dirty="0"/>
          </a:p>
          <a:p>
            <a:pPr lvl="0"/>
            <a:r>
              <a:rPr lang="en-US" sz="1800" dirty="0"/>
              <a:t>Safety Data Agent – Collects safety standards and operational data.</a:t>
            </a:r>
            <a:endParaRPr lang="en-IN" sz="1800" dirty="0"/>
          </a:p>
          <a:p>
            <a:pPr lvl="0"/>
            <a:r>
              <a:rPr lang="en-US" sz="1800" dirty="0"/>
              <a:t>Risk Detection Agent – Identifies hazardous conditions.</a:t>
            </a:r>
            <a:endParaRPr lang="en-IN" sz="1800" dirty="0"/>
          </a:p>
          <a:p>
            <a:pPr lvl="0"/>
            <a:r>
              <a:rPr lang="en-US" sz="1800" dirty="0"/>
              <a:t>Compliance Agent – Verifies adherence to safety regulations.</a:t>
            </a:r>
            <a:endParaRPr lang="en-IN" sz="1800" dirty="0"/>
          </a:p>
          <a:p>
            <a:pPr lvl="0"/>
            <a:r>
              <a:rPr lang="en-US" sz="1800" dirty="0"/>
              <a:t>Safety Recommendation Agent – Suggests corrective safety actions.</a:t>
            </a:r>
            <a:endParaRPr lang="en-IN" sz="1800" dirty="0"/>
          </a:p>
          <a:p>
            <a:pPr lvl="0"/>
            <a:r>
              <a:rPr lang="en-US" sz="1800" b="1" dirty="0"/>
              <a:t>Visualization Dashboard</a:t>
            </a:r>
            <a:br>
              <a:rPr lang="en-US" sz="1800" dirty="0"/>
            </a:br>
            <a:r>
              <a:rPr lang="en-US" sz="1800" dirty="0"/>
              <a:t>Display safety alerts, compliance reports, and recommended safety improvements.</a:t>
            </a:r>
            <a:endParaRPr lang="en-IN" sz="1800" dirty="0"/>
          </a:p>
          <a:p>
            <a:pPr fontAlgn="base"/>
            <a:endParaRPr lang="en-US" sz="1800"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145916"/>
            <a:ext cx="11194397" cy="830997"/>
          </a:xfrm>
          <a:prstGeom prst="rect">
            <a:avLst/>
          </a:prstGeom>
          <a:noFill/>
        </p:spPr>
        <p:txBody>
          <a:bodyPr wrap="square" rtlCol="0">
            <a:spAutoFit/>
          </a:bodyPr>
          <a:lstStyle/>
          <a:p>
            <a:r>
              <a:rPr lang="en-US" sz="2400" b="1" dirty="0"/>
              <a:t>Problem Statement No.35 - The AI Mechanical Safety Compliance Advisor</a:t>
            </a:r>
            <a:endParaRPr lang="en-IN" sz="2400" dirty="0"/>
          </a:p>
          <a:p>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515567"/>
            <a:ext cx="10532915" cy="6832640"/>
          </a:xfrm>
          <a:prstGeom prst="rect">
            <a:avLst/>
          </a:prstGeom>
          <a:noFill/>
        </p:spPr>
        <p:txBody>
          <a:bodyPr wrap="square" rtlCol="0">
            <a:spAutoFit/>
          </a:bodyPr>
          <a:lstStyle/>
          <a:p>
            <a:pPr fontAlgn="base"/>
            <a:endParaRPr lang="en-US" b="1" dirty="0"/>
          </a:p>
          <a:p>
            <a:r>
              <a:rPr lang="en-IN" sz="1800" b="1" dirty="0"/>
              <a:t>SAFEGUARD-AI is an AI-powered Industrial Safety Intelligence Platform that continuously </a:t>
            </a:r>
            <a:r>
              <a:rPr lang="en-IN" sz="1800" b="1" dirty="0" err="1"/>
              <a:t>analyzes</a:t>
            </a:r>
            <a:r>
              <a:rPr lang="en-IN" sz="1800" b="1" dirty="0"/>
              <a:t> machine telemetry, identifies safety risks, verifies compliance requirements, retrieves supporting safety evidence, and provides actionable recommendations.</a:t>
            </a:r>
          </a:p>
          <a:p>
            <a:endParaRPr lang="en-IN" sz="1800" dirty="0"/>
          </a:p>
          <a:p>
            <a:r>
              <a:rPr lang="en-IN" sz="1800" b="1" dirty="0"/>
              <a:t>Key components</a:t>
            </a:r>
          </a:p>
          <a:p>
            <a:pPr lvl="0"/>
            <a:r>
              <a:rPr lang="en-IN" sz="1800" b="1" dirty="0"/>
              <a:t>1. Real-Time Machine Monitoring:</a:t>
            </a:r>
            <a:r>
              <a:rPr lang="en-IN" sz="1800" dirty="0"/>
              <a:t> Collects parameters such as temperature, vibration, RPM, pressure, load, guard and interlock status. </a:t>
            </a:r>
          </a:p>
          <a:p>
            <a:pPr lvl="0"/>
            <a:r>
              <a:rPr lang="en-IN" sz="1800" b="1" dirty="0"/>
              <a:t>2. AI-Based Risk Detection:</a:t>
            </a:r>
            <a:r>
              <a:rPr lang="en-IN" sz="1800" dirty="0"/>
              <a:t> </a:t>
            </a:r>
            <a:r>
              <a:rPr lang="en-IN" sz="1800" dirty="0" err="1"/>
              <a:t>Analyzes</a:t>
            </a:r>
            <a:r>
              <a:rPr lang="en-IN" sz="1800" dirty="0"/>
              <a:t> machine conditions and calculates a risk score and severity level. </a:t>
            </a:r>
          </a:p>
          <a:p>
            <a:pPr lvl="0"/>
            <a:r>
              <a:rPr lang="en-IN" sz="1800" b="1" dirty="0"/>
              <a:t>3. Safety Compliance Verification:</a:t>
            </a:r>
            <a:r>
              <a:rPr lang="en-IN" sz="1800" dirty="0"/>
              <a:t> Checks the current machine condition against relevant safety requirements and identifies compliant/non-compliant conditions. </a:t>
            </a:r>
          </a:p>
          <a:p>
            <a:pPr lvl="0"/>
            <a:r>
              <a:rPr lang="en-IN" sz="1800" b="1" dirty="0"/>
              <a:t>4. RAG-Based Safety Evidence:</a:t>
            </a:r>
            <a:r>
              <a:rPr lang="en-IN" sz="1800" dirty="0"/>
              <a:t> Retrieves relevant information from the available safety documents to support compliance decisions. </a:t>
            </a:r>
          </a:p>
          <a:p>
            <a:pPr lvl="0"/>
            <a:r>
              <a:rPr lang="en-IN" sz="1800" b="1" dirty="0"/>
              <a:t>4. Multi-Agent AI:</a:t>
            </a:r>
            <a:r>
              <a:rPr lang="en-IN" sz="1800" dirty="0"/>
              <a:t> Uses specialized agents for safety data, risk detection, compliance verification, and recommendations. </a:t>
            </a:r>
          </a:p>
          <a:p>
            <a:pPr lvl="0"/>
            <a:r>
              <a:rPr lang="en-IN" sz="1800" b="1" dirty="0"/>
              <a:t>5. Actionable Recommendations:</a:t>
            </a:r>
            <a:r>
              <a:rPr lang="en-IN" sz="1800" dirty="0"/>
              <a:t> Generates immediate, corrective, and preventive safety actions. </a:t>
            </a:r>
          </a:p>
          <a:p>
            <a:pPr lvl="0"/>
            <a:r>
              <a:rPr lang="en-IN" sz="1800" b="1" dirty="0"/>
              <a:t>6. Alert System:</a:t>
            </a:r>
            <a:r>
              <a:rPr lang="en-IN" sz="1800" dirty="0"/>
              <a:t> Raises alerts when critical or high-risk conditions are detected. </a:t>
            </a:r>
          </a:p>
          <a:p>
            <a:pPr lvl="0"/>
            <a:r>
              <a:rPr lang="en-IN" sz="1800" b="1" dirty="0"/>
              <a:t>7. Interactive Dashboard:</a:t>
            </a:r>
            <a:r>
              <a:rPr lang="en-IN" sz="1800" dirty="0"/>
              <a:t> Displays machine status, telemetry, risks, compliance, evidence, recommendations, and alerts. </a:t>
            </a:r>
          </a:p>
          <a:p>
            <a:pPr lvl="0"/>
            <a:r>
              <a:rPr lang="en-IN" sz="1800" b="1" dirty="0"/>
              <a:t>8. What-If Analysis:</a:t>
            </a:r>
            <a:r>
              <a:rPr lang="en-IN" sz="1800" dirty="0"/>
              <a:t> Allows users to change machine parameters and evaluate how those changes affect safety risk and compliance.</a:t>
            </a:r>
          </a:p>
          <a:p>
            <a:endParaRPr lang="en-US" sz="1800"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1" y="145915"/>
            <a:ext cx="7283878"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39" y="1352144"/>
            <a:ext cx="10555483" cy="5232202"/>
          </a:xfrm>
          <a:prstGeom prst="rect">
            <a:avLst/>
          </a:prstGeom>
          <a:noFill/>
        </p:spPr>
        <p:txBody>
          <a:bodyPr wrap="square" rtlCol="0">
            <a:spAutoFit/>
          </a:bodyPr>
          <a:lstStyle/>
          <a:p>
            <a:pPr lvl="0"/>
            <a:r>
              <a:rPr lang="en-IN" sz="1800" b="1" dirty="0"/>
              <a:t>Python</a:t>
            </a:r>
            <a:r>
              <a:rPr lang="en-IN" sz="1800" dirty="0"/>
              <a:t> — Core backend and AI logic </a:t>
            </a:r>
          </a:p>
          <a:p>
            <a:pPr lvl="0"/>
            <a:r>
              <a:rPr lang="en-IN" sz="1800" b="1" dirty="0" err="1"/>
              <a:t>FastAPI</a:t>
            </a:r>
            <a:r>
              <a:rPr lang="en-IN" sz="1800" dirty="0"/>
              <a:t> — Backend REST API </a:t>
            </a:r>
          </a:p>
          <a:p>
            <a:pPr lvl="0"/>
            <a:r>
              <a:rPr lang="en-IN" sz="1800" b="1" dirty="0"/>
              <a:t>SQLite</a:t>
            </a:r>
            <a:r>
              <a:rPr lang="en-IN" sz="1800" dirty="0"/>
              <a:t> — Database for machines, telemetry, risks, compliance, and alerts </a:t>
            </a:r>
          </a:p>
          <a:p>
            <a:pPr lvl="0"/>
            <a:r>
              <a:rPr lang="en-IN" sz="1800" b="1" dirty="0"/>
              <a:t>RAG (Retrieval-Augmented Generation)</a:t>
            </a:r>
            <a:r>
              <a:rPr lang="en-IN" sz="1800" dirty="0"/>
              <a:t> — Retrieval of relevant safety evidence </a:t>
            </a:r>
          </a:p>
          <a:p>
            <a:pPr lvl="0"/>
            <a:r>
              <a:rPr lang="en-IN" sz="1800" b="1" dirty="0"/>
              <a:t>TF-IDF</a:t>
            </a:r>
            <a:r>
              <a:rPr lang="en-IN" sz="1800" dirty="0"/>
              <a:t> — Current local RAG retrieval/indexing </a:t>
            </a:r>
          </a:p>
          <a:p>
            <a:pPr lvl="0"/>
            <a:r>
              <a:rPr lang="en-IN" sz="1800" b="1" dirty="0" err="1"/>
              <a:t>ChromaDB</a:t>
            </a:r>
            <a:r>
              <a:rPr lang="en-IN" sz="1800" dirty="0"/>
              <a:t> — Vector database/RAG storage </a:t>
            </a:r>
          </a:p>
          <a:p>
            <a:pPr lvl="0"/>
            <a:r>
              <a:rPr lang="en-IN" sz="1800" b="1" dirty="0"/>
              <a:t>Multi-Agent AI Architecture</a:t>
            </a:r>
            <a:r>
              <a:rPr lang="en-IN" sz="1800" dirty="0"/>
              <a:t> — Safety Data, Risk Detection, Compliance, and Recommendation agents </a:t>
            </a:r>
          </a:p>
          <a:p>
            <a:pPr lvl="0"/>
            <a:r>
              <a:rPr lang="en-IN" sz="1800" b="1" dirty="0"/>
              <a:t>IBM </a:t>
            </a:r>
            <a:r>
              <a:rPr lang="en-IN" sz="1800" b="1" dirty="0" err="1"/>
              <a:t>Watsonx</a:t>
            </a:r>
            <a:r>
              <a:rPr lang="en-IN" sz="1800" dirty="0"/>
              <a:t> — AI/LLM integration </a:t>
            </a:r>
            <a:r>
              <a:rPr lang="en-IN" sz="1800" i="1" dirty="0"/>
              <a:t>(optional; rule-based fallback is currently active)</a:t>
            </a:r>
            <a:r>
              <a:rPr lang="en-IN" sz="1800" dirty="0"/>
              <a:t> </a:t>
            </a:r>
          </a:p>
          <a:p>
            <a:pPr lvl="0"/>
            <a:r>
              <a:rPr lang="en-IN" sz="1800" b="1" dirty="0"/>
              <a:t>IBM </a:t>
            </a:r>
            <a:r>
              <a:rPr lang="en-IN" sz="1800" b="1" dirty="0" err="1"/>
              <a:t>Langflow</a:t>
            </a:r>
            <a:r>
              <a:rPr lang="en-IN" sz="1800" dirty="0"/>
              <a:t> — Agent/RAG workflow integration </a:t>
            </a:r>
            <a:r>
              <a:rPr lang="en-IN" sz="1800" i="1" dirty="0"/>
              <a:t>(optional/not configured in current local setup)</a:t>
            </a:r>
            <a:r>
              <a:rPr lang="en-IN" sz="1800" dirty="0"/>
              <a:t> </a:t>
            </a:r>
          </a:p>
          <a:p>
            <a:pPr lvl="0"/>
            <a:r>
              <a:rPr lang="en-IN" sz="1800" b="1" dirty="0"/>
              <a:t>HTML/CSS/JavaScript / frontend framework</a:t>
            </a:r>
            <a:r>
              <a:rPr lang="en-IN" sz="1800" dirty="0"/>
              <a:t> — Interactive dashboard </a:t>
            </a:r>
          </a:p>
          <a:p>
            <a:pPr lvl="0"/>
            <a:r>
              <a:rPr lang="en-IN" sz="1800" b="1" dirty="0"/>
              <a:t>Node.js &amp; </a:t>
            </a:r>
            <a:r>
              <a:rPr lang="en-IN" sz="1800" b="1" dirty="0" err="1"/>
              <a:t>npm</a:t>
            </a:r>
            <a:r>
              <a:rPr lang="en-IN" sz="1800" dirty="0"/>
              <a:t> — Frontend development/build </a:t>
            </a:r>
          </a:p>
          <a:p>
            <a:pPr lvl="0"/>
            <a:r>
              <a:rPr lang="en-IN" sz="1800" b="1" dirty="0"/>
              <a:t>Git &amp; GitHub</a:t>
            </a:r>
            <a:r>
              <a:rPr lang="en-IN" sz="1800" dirty="0"/>
              <a:t> — Version control </a:t>
            </a:r>
          </a:p>
          <a:p>
            <a:pPr lvl="0"/>
            <a:r>
              <a:rPr lang="en-IN" sz="1800" b="1" dirty="0"/>
              <a:t>Machine Simulation</a:t>
            </a:r>
            <a:r>
              <a:rPr lang="en-IN" sz="1800" dirty="0"/>
              <a:t> — Generates industrial machine telemetry for testing/demo</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912712" y="365041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48BB9684-F018-1AF1-724D-8D1E79952A4F}"/>
              </a:ext>
            </a:extLst>
          </p:cNvPr>
          <p:cNvPicPr>
            <a:picLocks noChangeAspect="1"/>
          </p:cNvPicPr>
          <p:nvPr/>
        </p:nvPicPr>
        <p:blipFill>
          <a:blip r:embed="rId3"/>
          <a:stretch>
            <a:fillRect/>
          </a:stretch>
        </p:blipFill>
        <p:spPr>
          <a:xfrm>
            <a:off x="3278221" y="1218643"/>
            <a:ext cx="8197976" cy="477617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3E0ADA9A-DEE2-8471-C7E6-CCEAEABBAB60}"/>
              </a:ext>
            </a:extLst>
          </p:cNvPr>
          <p:cNvPicPr>
            <a:picLocks noChangeAspect="1"/>
          </p:cNvPicPr>
          <p:nvPr/>
        </p:nvPicPr>
        <p:blipFill>
          <a:blip r:embed="rId3"/>
          <a:stretch>
            <a:fillRect/>
          </a:stretch>
        </p:blipFill>
        <p:spPr>
          <a:xfrm>
            <a:off x="2334637" y="1050588"/>
            <a:ext cx="8991599" cy="526266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BD9234-C884-55FD-8BC7-7E82454B33DB}"/>
              </a:ext>
            </a:extLst>
          </p:cNvPr>
          <p:cNvPicPr>
            <a:picLocks noChangeAspect="1"/>
          </p:cNvPicPr>
          <p:nvPr/>
        </p:nvPicPr>
        <p:blipFill>
          <a:blip r:embed="rId2"/>
          <a:stretch>
            <a:fillRect/>
          </a:stretch>
        </p:blipFill>
        <p:spPr>
          <a:xfrm>
            <a:off x="607978" y="471791"/>
            <a:ext cx="10976043" cy="591441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95B1977A-61DE-224D-AED4-FC667FFD50AB}"/>
              </a:ext>
            </a:extLst>
          </p:cNvPr>
          <p:cNvPicPr>
            <a:picLocks noChangeAspect="1"/>
          </p:cNvPicPr>
          <p:nvPr/>
        </p:nvPicPr>
        <p:blipFill>
          <a:blip r:embed="rId3"/>
          <a:stretch>
            <a:fillRect/>
          </a:stretch>
        </p:blipFill>
        <p:spPr>
          <a:xfrm>
            <a:off x="1894888" y="1095049"/>
            <a:ext cx="8402223" cy="4667901"/>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78313"/>
          </a:xfrm>
          <a:prstGeom prst="rect">
            <a:avLst/>
          </a:prstGeom>
          <a:noFill/>
        </p:spPr>
        <p:txBody>
          <a:bodyPr wrap="square" rtlCol="0">
            <a:spAutoFit/>
          </a:bodyPr>
          <a:lstStyle/>
          <a:p>
            <a:r>
              <a:rPr lang="en-US" sz="1800" b="1" dirty="0"/>
              <a:t>Role of Agentic AI in Nutrition Agent</a:t>
            </a:r>
          </a:p>
          <a:p>
            <a:r>
              <a:rPr lang="en-US" sz="1800" b="1" dirty="0"/>
              <a:t>Agentic AI</a:t>
            </a:r>
            <a:r>
              <a:rPr lang="en-US" sz="1800" dirty="0"/>
              <a:t> enables the Nutrition Agent to function as an intelligent, autonomous system rather than a simple chatbot. Using </a:t>
            </a:r>
            <a:r>
              <a:rPr lang="en-US" sz="1800" b="1" dirty="0"/>
              <a:t>IBM watsonx.ai</a:t>
            </a:r>
            <a:r>
              <a:rPr lang="en-US" sz="1800" dirty="0"/>
              <a:t> and </a:t>
            </a:r>
            <a:r>
              <a:rPr lang="en-US" sz="1800" b="1" dirty="0"/>
              <a:t>IBM Granite models</a:t>
            </a:r>
            <a:r>
              <a:rPr lang="en-US" sz="1800" dirty="0"/>
              <a:t>, it coordinates multiple specialized agents to deliver personalized nutrition guidance.</a:t>
            </a:r>
          </a:p>
          <a:p>
            <a:r>
              <a:rPr lang="en-US" sz="1800" dirty="0"/>
              <a:t>Each agent performs a specific role—such as retrieving nutritional data, generating diet plans, providing health advice, and analyzing food logs—while working collaboratively. This </a:t>
            </a:r>
            <a:r>
              <a:rPr lang="en-US" sz="1800" b="1" dirty="0"/>
              <a:t>multi-agent approach</a:t>
            </a:r>
            <a:r>
              <a:rPr lang="en-US" sz="1800" dirty="0"/>
              <a:t> ensures efficient task execution and accurate results.</a:t>
            </a:r>
          </a:p>
          <a:p>
            <a:r>
              <a:rPr lang="en-US" sz="1800" dirty="0"/>
              <a:t>Agentic AI also brings </a:t>
            </a:r>
            <a:r>
              <a:rPr lang="en-US" sz="1800" b="1" dirty="0"/>
              <a:t>context awareness</a:t>
            </a:r>
            <a:r>
              <a:rPr lang="en-US" sz="1800" dirty="0"/>
              <a:t>, understanding user details like age, health conditions, and fitness goals to generate tailored recommendations. It supports </a:t>
            </a:r>
            <a:r>
              <a:rPr lang="en-US" sz="1800" b="1" dirty="0"/>
              <a:t>real-time adaptation</a:t>
            </a:r>
            <a:r>
              <a:rPr lang="en-US" sz="1800" dirty="0"/>
              <a:t>, continuously updating suggestions based on user inputs like daily meals.</a:t>
            </a:r>
          </a:p>
          <a:p>
            <a:r>
              <a:rPr lang="en-US" sz="1800" dirty="0"/>
              <a:t>Additionally, agents communicate with each other, enabling better decision-making and improved outcomes.</a:t>
            </a:r>
          </a:p>
          <a:p>
            <a:r>
              <a:rPr lang="en-US" sz="1800" dirty="0"/>
              <a:t>Overall, Agentic AI makes the system proactive, personalized, and goal-driven, acting like a </a:t>
            </a:r>
            <a:r>
              <a:rPr lang="en-US" sz="1800" b="1" dirty="0"/>
              <a:t>smart digital nutritionist</a:t>
            </a:r>
            <a:r>
              <a:rPr lang="en-US" sz="1800"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5" name="TextBox 14">
            <a:extLst>
              <a:ext uri="{FF2B5EF4-FFF2-40B4-BE49-F238E27FC236}">
                <a16:creationId xmlns:a16="http://schemas.microsoft.com/office/drawing/2014/main" id="{B22EA981-5113-2D05-C1A2-169306E1D47C}"/>
              </a:ext>
            </a:extLst>
          </p:cNvPr>
          <p:cNvSpPr txBox="1"/>
          <p:nvPr/>
        </p:nvSpPr>
        <p:spPr>
          <a:xfrm>
            <a:off x="462116" y="1722919"/>
            <a:ext cx="938791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u="sng" dirty="0"/>
              <a:t>After the Prompt</a:t>
            </a:r>
          </a:p>
        </p:txBody>
      </p:sp>
      <p:pic>
        <p:nvPicPr>
          <p:cNvPr id="3" name="Picture 2">
            <a:extLst>
              <a:ext uri="{FF2B5EF4-FFF2-40B4-BE49-F238E27FC236}">
                <a16:creationId xmlns:a16="http://schemas.microsoft.com/office/drawing/2014/main" id="{B25983C5-1FB7-A975-6271-CD729872C08D}"/>
              </a:ext>
            </a:extLst>
          </p:cNvPr>
          <p:cNvPicPr>
            <a:picLocks noChangeAspect="1"/>
          </p:cNvPicPr>
          <p:nvPr/>
        </p:nvPicPr>
        <p:blipFill>
          <a:blip r:embed="rId3"/>
          <a:stretch>
            <a:fillRect/>
          </a:stretch>
        </p:blipFill>
        <p:spPr>
          <a:xfrm>
            <a:off x="3298365" y="2412011"/>
            <a:ext cx="3309269" cy="4095041"/>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B0F1655F-5CC1-5137-2EA1-9BFFB45152F7}"/>
              </a:ext>
            </a:extLst>
          </p:cNvPr>
          <p:cNvPicPr>
            <a:picLocks noChangeAspect="1"/>
          </p:cNvPicPr>
          <p:nvPr/>
        </p:nvPicPr>
        <p:blipFill>
          <a:blip r:embed="rId3"/>
          <a:stretch>
            <a:fillRect/>
          </a:stretch>
        </p:blipFill>
        <p:spPr>
          <a:xfrm>
            <a:off x="687782" y="781272"/>
            <a:ext cx="10973276" cy="592393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8675C43-FFB6-2862-DE15-919D0F465EA8}"/>
              </a:ext>
            </a:extLst>
          </p:cNvPr>
          <p:cNvPicPr>
            <a:picLocks noChangeAspect="1"/>
          </p:cNvPicPr>
          <p:nvPr/>
        </p:nvPicPr>
        <p:blipFill>
          <a:blip r:embed="rId3"/>
          <a:stretch>
            <a:fillRect/>
          </a:stretch>
        </p:blipFill>
        <p:spPr>
          <a:xfrm>
            <a:off x="712838" y="816977"/>
            <a:ext cx="10766323" cy="568796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5EECD1CA-9E0F-DEF4-38B3-DB5B496C5174}"/>
              </a:ext>
            </a:extLst>
          </p:cNvPr>
          <p:cNvPicPr>
            <a:picLocks noChangeAspect="1"/>
          </p:cNvPicPr>
          <p:nvPr/>
        </p:nvPicPr>
        <p:blipFill>
          <a:blip r:embed="rId3"/>
          <a:stretch>
            <a:fillRect/>
          </a:stretch>
        </p:blipFill>
        <p:spPr>
          <a:xfrm>
            <a:off x="609362" y="816977"/>
            <a:ext cx="10973276" cy="581373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148015"/>
            <a:ext cx="11301984" cy="4462760"/>
          </a:xfrm>
          <a:prstGeom prst="rect">
            <a:avLst/>
          </a:prstGeom>
          <a:noFill/>
        </p:spPr>
        <p:txBody>
          <a:bodyPr wrap="square" rtlCol="0">
            <a:spAutoFit/>
          </a:bodyPr>
          <a:lstStyle/>
          <a:p>
            <a:pPr lvl="0"/>
            <a:r>
              <a:rPr lang="en-IN" sz="1800" b="1" dirty="0"/>
              <a:t>AI-powered industrial safety advisor</a:t>
            </a:r>
            <a:r>
              <a:rPr lang="en-IN" sz="1800" dirty="0"/>
              <a:t> that combines machine monitoring with safety compliance. </a:t>
            </a:r>
          </a:p>
          <a:p>
            <a:pPr lvl="0"/>
            <a:endParaRPr lang="en-IN" sz="1800" dirty="0"/>
          </a:p>
          <a:p>
            <a:pPr lvl="0"/>
            <a:r>
              <a:rPr lang="en-IN" sz="1800" b="1" dirty="0"/>
              <a:t>Multi-agent architecture</a:t>
            </a:r>
            <a:r>
              <a:rPr lang="en-IN" sz="1800" dirty="0"/>
              <a:t> separates risk detection, compliance verification, and safety recommendations.</a:t>
            </a:r>
          </a:p>
          <a:p>
            <a:pPr lvl="0"/>
            <a:r>
              <a:rPr lang="en-IN" sz="1800" dirty="0"/>
              <a:t> </a:t>
            </a:r>
          </a:p>
          <a:p>
            <a:pPr lvl="0"/>
            <a:r>
              <a:rPr lang="en-IN" sz="1800" b="1" dirty="0"/>
              <a:t>RAG-based evidence retrieval</a:t>
            </a:r>
            <a:r>
              <a:rPr lang="en-IN" sz="1800" dirty="0"/>
              <a:t> provides supporting safety information for compliance decisions. </a:t>
            </a:r>
          </a:p>
          <a:p>
            <a:pPr lvl="0"/>
            <a:endParaRPr lang="en-IN" sz="1800" dirty="0"/>
          </a:p>
          <a:p>
            <a:pPr lvl="0"/>
            <a:r>
              <a:rPr lang="en-IN" sz="1800" b="1" dirty="0"/>
              <a:t>Real-time risk analysis</a:t>
            </a:r>
            <a:r>
              <a:rPr lang="en-IN" sz="1800" dirty="0"/>
              <a:t> using machine telemetry such as temperature, vibration, RPM, pressure, and load.</a:t>
            </a:r>
          </a:p>
          <a:p>
            <a:pPr lvl="0"/>
            <a:r>
              <a:rPr lang="en-IN" sz="1800" dirty="0"/>
              <a:t> </a:t>
            </a:r>
          </a:p>
          <a:p>
            <a:pPr lvl="0"/>
            <a:r>
              <a:rPr lang="en-IN" sz="1800" b="1" dirty="0"/>
              <a:t>What-If analysis</a:t>
            </a:r>
            <a:r>
              <a:rPr lang="en-IN" sz="1800" dirty="0"/>
              <a:t> allows users to simulate changing machine conditions and see the resulting safety risk. </a:t>
            </a:r>
          </a:p>
          <a:p>
            <a:pPr lvl="0"/>
            <a:endParaRPr lang="en-IN" sz="1800" dirty="0"/>
          </a:p>
          <a:p>
            <a:pPr lvl="0"/>
            <a:r>
              <a:rPr lang="en-IN" sz="1800" b="1" dirty="0"/>
              <a:t>End-to-end safety workflow:</a:t>
            </a:r>
            <a:br>
              <a:rPr lang="en-IN" sz="1800" dirty="0"/>
            </a:br>
            <a:r>
              <a:rPr lang="en-IN" sz="1800" b="1" dirty="0"/>
              <a:t>Monitor → Detect → Verify → Retrieve Evidence → Recommend → Alert</a:t>
            </a:r>
            <a:r>
              <a:rPr lang="en-IN" sz="1800" dirty="0"/>
              <a:t> </a:t>
            </a:r>
          </a:p>
          <a:p>
            <a:pPr lvl="0"/>
            <a:r>
              <a:rPr lang="en-IN" sz="1800" b="1" dirty="0"/>
              <a:t>Interactive dashboard</a:t>
            </a:r>
            <a:r>
              <a:rPr lang="en-IN" sz="1800" dirty="0"/>
              <a:t> brings machine status, risks, compliance, evidence, and recommendations into one platform.</a:t>
            </a:r>
          </a:p>
          <a:p>
            <a:endParaRPr lang="en-US" sz="18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buClr>
                <a:srgbClr val="2B3541"/>
              </a:buClr>
              <a:buSzPts val="1850"/>
            </a:pPr>
            <a:r>
              <a:rPr lang="en-IN" sz="1850" dirty="0">
                <a:latin typeface="Times New Roman"/>
                <a:ea typeface="Times New Roman"/>
                <a:cs typeface="Times New Roman"/>
                <a:sym typeface="Times New Roman"/>
              </a:rPr>
              <a:t>https://github.com/sonuratha31/SAFEGUARD-AI</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98323"/>
            <a:ext cx="6440605" cy="1026423"/>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08416" y="953729"/>
            <a:ext cx="9636565" cy="5633884"/>
          </a:xfrm>
          <a:prstGeom prst="rect">
            <a:avLst/>
          </a:prstGeom>
          <a:noFill/>
          <a:ln>
            <a:noFill/>
          </a:ln>
        </p:spPr>
        <p:txBody>
          <a:bodyPr spcFirstLastPara="1" wrap="square" lIns="0" tIns="0" rIns="0" bIns="0" anchor="t" anchorCtr="0">
            <a:noAutofit/>
          </a:bodyPr>
          <a:lstStyle/>
          <a:p>
            <a:pPr lvl="0"/>
            <a:r>
              <a:rPr lang="en-IN" sz="1800" b="1" dirty="0"/>
              <a:t>1. Real-time IoT integration</a:t>
            </a:r>
            <a:r>
              <a:rPr lang="en-IN" sz="1800" dirty="0"/>
              <a:t> with sensors installed on industrial machines. </a:t>
            </a:r>
          </a:p>
          <a:p>
            <a:pPr lvl="0"/>
            <a:endParaRPr lang="en-IN" sz="1800" dirty="0"/>
          </a:p>
          <a:p>
            <a:pPr lvl="0"/>
            <a:r>
              <a:rPr lang="en-IN" sz="1800" b="1" dirty="0"/>
              <a:t>2. Advanced AI/ML models</a:t>
            </a:r>
            <a:r>
              <a:rPr lang="en-IN" sz="1800" dirty="0"/>
              <a:t> for predictive maintenance and early failure detection. </a:t>
            </a:r>
          </a:p>
          <a:p>
            <a:pPr lvl="0"/>
            <a:endParaRPr lang="en-IN" sz="1800" dirty="0"/>
          </a:p>
          <a:p>
            <a:pPr lvl="0"/>
            <a:r>
              <a:rPr lang="en-IN" sz="1800" b="1" dirty="0"/>
              <a:t>3. Integration with IBM </a:t>
            </a:r>
            <a:r>
              <a:rPr lang="en-IN" sz="1800" b="1" dirty="0" err="1"/>
              <a:t>Watsonx</a:t>
            </a:r>
            <a:r>
              <a:rPr lang="en-IN" sz="1800" b="1" dirty="0"/>
              <a:t> and </a:t>
            </a:r>
            <a:r>
              <a:rPr lang="en-IN" sz="1800" b="1" dirty="0" err="1"/>
              <a:t>Langflow</a:t>
            </a:r>
            <a:r>
              <a:rPr lang="en-IN" sz="1800" dirty="0"/>
              <a:t> for more advanced AI-powered reasoning.</a:t>
            </a:r>
          </a:p>
          <a:p>
            <a:pPr lvl="0"/>
            <a:r>
              <a:rPr lang="en-IN" sz="1800" dirty="0"/>
              <a:t> </a:t>
            </a:r>
          </a:p>
          <a:p>
            <a:pPr lvl="0"/>
            <a:r>
              <a:rPr lang="en-IN" sz="1800" b="1" dirty="0"/>
              <a:t>4. Support for more industrial safety standards and regulations</a:t>
            </a:r>
            <a:r>
              <a:rPr lang="en-IN" sz="1800" dirty="0"/>
              <a:t> from different countries.</a:t>
            </a:r>
          </a:p>
          <a:p>
            <a:pPr lvl="0"/>
            <a:r>
              <a:rPr lang="en-IN" sz="1800" dirty="0"/>
              <a:t> </a:t>
            </a:r>
          </a:p>
          <a:p>
            <a:pPr lvl="0"/>
            <a:r>
              <a:rPr lang="en-IN" sz="1800" b="1" dirty="0"/>
              <a:t>5. Cloud deployment</a:t>
            </a:r>
            <a:r>
              <a:rPr lang="en-IN" sz="1800" dirty="0"/>
              <a:t> for remote monitoring of multiple factories. </a:t>
            </a:r>
          </a:p>
          <a:p>
            <a:pPr lvl="0"/>
            <a:endParaRPr lang="en-IN" sz="1800" dirty="0"/>
          </a:p>
          <a:p>
            <a:pPr lvl="0"/>
            <a:r>
              <a:rPr lang="en-IN" sz="1800" b="1" dirty="0"/>
              <a:t>6. Mobile application</a:t>
            </a:r>
            <a:r>
              <a:rPr lang="en-IN" sz="1800" dirty="0"/>
              <a:t> for instant safety alerts and notifications. </a:t>
            </a:r>
          </a:p>
          <a:p>
            <a:pPr lvl="0"/>
            <a:endParaRPr lang="en-IN" sz="1800" dirty="0"/>
          </a:p>
          <a:p>
            <a:pPr lvl="0"/>
            <a:r>
              <a:rPr lang="en-IN" sz="1800" b="1" dirty="0"/>
              <a:t>7. Historical data analytics</a:t>
            </a:r>
            <a:r>
              <a:rPr lang="en-IN" sz="1800" dirty="0"/>
              <a:t> to identify recurring machine safety patterns. </a:t>
            </a:r>
          </a:p>
          <a:p>
            <a:pPr lvl="0"/>
            <a:endParaRPr lang="en-IN" sz="1800" dirty="0"/>
          </a:p>
          <a:p>
            <a:pPr lvl="0"/>
            <a:r>
              <a:rPr lang="en-IN" sz="1800" b="1" dirty="0"/>
              <a:t>8. Digital Twin integration</a:t>
            </a:r>
            <a:r>
              <a:rPr lang="en-IN" sz="1800" dirty="0"/>
              <a:t> for realistic machine simulation and risk prediction. </a:t>
            </a:r>
          </a:p>
          <a:p>
            <a:pPr lvl="0"/>
            <a:endParaRPr lang="en-IN" sz="1800" dirty="0"/>
          </a:p>
          <a:p>
            <a:pPr lvl="0"/>
            <a:r>
              <a:rPr lang="en-IN" sz="1800" b="1" dirty="0"/>
              <a:t>9. Voice-based safety assistant</a:t>
            </a:r>
            <a:r>
              <a:rPr lang="en-IN" sz="1800" dirty="0"/>
              <a:t> for hands-free interaction on industrial floors. </a:t>
            </a:r>
          </a:p>
          <a:p>
            <a:pPr lvl="0"/>
            <a:endParaRPr lang="en-IN" sz="1800" dirty="0"/>
          </a:p>
          <a:p>
            <a:pPr lvl="0"/>
            <a:r>
              <a:rPr lang="en-IN" sz="1800" b="1" dirty="0"/>
              <a:t>10. Automated compliance reports</a:t>
            </a:r>
            <a:r>
              <a:rPr lang="en-IN" sz="1800" dirty="0"/>
              <a:t> for audits and regulatory inspections.</a:t>
            </a:r>
          </a:p>
          <a:p>
            <a:pPr marL="0" marR="0" lvl="0" indent="0" algn="l" rtl="0">
              <a:lnSpc>
                <a:spcPct val="162162"/>
              </a:lnSpc>
              <a:spcBef>
                <a:spcPts val="0"/>
              </a:spcBef>
              <a:spcAft>
                <a:spcPts val="0"/>
              </a:spcAft>
              <a:buClr>
                <a:srgbClr val="2B3541"/>
              </a:buClr>
              <a:buSzPts val="1850"/>
              <a:buFont typeface="Times New Roman"/>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10" name="Picture 9">
            <a:extLst>
              <a:ext uri="{FF2B5EF4-FFF2-40B4-BE49-F238E27FC236}">
                <a16:creationId xmlns:a16="http://schemas.microsoft.com/office/drawing/2014/main" id="{EA0F7AA1-54BC-25AB-1E02-33A078395D25}"/>
              </a:ext>
            </a:extLst>
          </p:cNvPr>
          <p:cNvPicPr>
            <a:picLocks noChangeAspect="1"/>
          </p:cNvPicPr>
          <p:nvPr/>
        </p:nvPicPr>
        <p:blipFill>
          <a:blip r:embed="rId2"/>
          <a:stretch>
            <a:fillRect/>
          </a:stretch>
        </p:blipFill>
        <p:spPr>
          <a:xfrm>
            <a:off x="1809134" y="743476"/>
            <a:ext cx="8194699" cy="5973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D6B61A49-44DB-3B1A-7126-3630D934B8F4}"/>
              </a:ext>
            </a:extLst>
          </p:cNvPr>
          <p:cNvPicPr>
            <a:picLocks noChangeAspect="1"/>
          </p:cNvPicPr>
          <p:nvPr/>
        </p:nvPicPr>
        <p:blipFill>
          <a:blip r:embed="rId2"/>
          <a:stretch>
            <a:fillRect/>
          </a:stretch>
        </p:blipFill>
        <p:spPr>
          <a:xfrm>
            <a:off x="2241754" y="800469"/>
            <a:ext cx="7788619" cy="565313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1108</Words>
  <Application>Microsoft Office PowerPoint</Application>
  <PresentationFormat>Widescreen</PresentationFormat>
  <Paragraphs>150</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Sonu Ratha</cp:lastModifiedBy>
  <cp:revision>3</cp:revision>
  <dcterms:created xsi:type="dcterms:W3CDTF">2025-07-08T05:06:56Z</dcterms:created>
  <dcterms:modified xsi:type="dcterms:W3CDTF">2026-09-10T05:50:00Z</dcterms:modified>
</cp:coreProperties>
</file>